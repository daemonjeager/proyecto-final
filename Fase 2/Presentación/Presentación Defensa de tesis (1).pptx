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League Spartan"/>
      <p:regular r:id="rId11"/>
      <p:bold r:id="rId12"/>
    </p:embeddedFont>
    <p:embeddedFont>
      <p:font typeface="Poppi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ifI0bl3fiexV1j0GmEOq05aft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eagueSpartan-regular.fntdata"/><Relationship Id="rId10" Type="http://schemas.openxmlformats.org/officeDocument/2006/relationships/slide" Target="slides/slide5.xml"/><Relationship Id="rId13" Type="http://schemas.openxmlformats.org/officeDocument/2006/relationships/font" Target="fonts/Poppins-regular.fntdata"/><Relationship Id="rId12" Type="http://schemas.openxmlformats.org/officeDocument/2006/relationships/font" Target="fonts/LeagueSpartan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customschemas.google.com/relationships/presentationmetadata" Target="meta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028700" y="1705564"/>
            <a:ext cx="16230600" cy="6875872"/>
          </a:xfrm>
          <a:custGeom>
            <a:rect b="b" l="l" r="r" t="t"/>
            <a:pathLst>
              <a:path extrusionOk="0" h="6875872" w="16230600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2022667" y="4355532"/>
            <a:ext cx="14242666" cy="1927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99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PROYECTO APT – PLAYGROUP PIECECITAS</a:t>
            </a:r>
            <a:endParaRPr/>
          </a:p>
          <a:p>
            <a:pPr indent="0" lvl="0" marL="0" marR="0" rtl="0" algn="ctr">
              <a:lnSpc>
                <a:spcPct val="23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99" u="none" cap="none" strike="noStrike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960806" y="6481742"/>
            <a:ext cx="10455972" cy="209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5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Integrantes: Thomas Foncea – Eduardo Otarola – Alessandro Rojas</a:t>
            </a:r>
            <a:endParaRPr/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5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71180" y="4854"/>
            <a:ext cx="3489626" cy="5237713"/>
          </a:xfrm>
          <a:custGeom>
            <a:rect b="b" l="l" r="r" t="t"/>
            <a:pathLst>
              <a:path extrusionOk="0" h="5237713" w="3489626">
                <a:moveTo>
                  <a:pt x="0" y="0"/>
                </a:moveTo>
                <a:lnTo>
                  <a:pt x="3489626" y="0"/>
                </a:lnTo>
                <a:lnTo>
                  <a:pt x="3489626" y="5237713"/>
                </a:lnTo>
                <a:lnTo>
                  <a:pt x="0" y="5237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8111415" y="-1186175"/>
            <a:ext cx="2307436" cy="2372351"/>
          </a:xfrm>
          <a:custGeom>
            <a:rect b="b" l="l" r="r" t="t"/>
            <a:pathLst>
              <a:path extrusionOk="0" h="2372351" w="2307436">
                <a:moveTo>
                  <a:pt x="0" y="0"/>
                </a:moveTo>
                <a:lnTo>
                  <a:pt x="2307436" y="0"/>
                </a:lnTo>
                <a:lnTo>
                  <a:pt x="2307436" y="2372350"/>
                </a:lnTo>
                <a:lnTo>
                  <a:pt x="0" y="2372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 flipH="1">
            <a:off x="15109743" y="3525791"/>
            <a:ext cx="932360" cy="2091619"/>
          </a:xfrm>
          <a:custGeom>
            <a:rect b="b" l="l" r="r" t="t"/>
            <a:pathLst>
              <a:path extrusionOk="0" h="2091619" w="932360">
                <a:moveTo>
                  <a:pt x="932361" y="0"/>
                </a:moveTo>
                <a:lnTo>
                  <a:pt x="0" y="0"/>
                </a:lnTo>
                <a:lnTo>
                  <a:pt x="0" y="2091619"/>
                </a:lnTo>
                <a:lnTo>
                  <a:pt x="932361" y="2091619"/>
                </a:lnTo>
                <a:lnTo>
                  <a:pt x="932361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125662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4408426" y="350525"/>
            <a:ext cx="105279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0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 Problema y la Oportunidad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0" y="3453725"/>
            <a:ext cx="18150300" cy="74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Problema</a:t>
            </a:r>
            <a:endParaRPr sz="1300"/>
          </a:p>
          <a:p>
            <a:pPr indent="-29591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PlayGroup Piececitas presenta procesos manuales y dispersos que dificultan la gestión interna: la agenda se maneja sin control centralizado, existen riesgos de solapamientos y pérdida de información clínica, no hay un registro digital estandarizado de sesiones y la comunicación con apoderados se realiza por canales informales. Esto afecta la organización, la eficiencia del equipo y la experiencia de las familias.</a:t>
            </a:r>
            <a:endParaRPr sz="1300"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Oportunidad</a:t>
            </a:r>
            <a:endParaRPr sz="1300"/>
          </a:p>
          <a:p>
            <a:pPr indent="-29591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Desarrollar una plataforma web que digitalice y automatice todo el funcionamiento del centro: agenda inteligente, fichas clínicas digitales, registro de sesiones, reemplazos automáticos, notificaciones, dashboard administrativo y portal para apoderados.</a:t>
            </a:r>
            <a:endParaRPr sz="1300"/>
          </a:p>
          <a:p>
            <a:pPr indent="-29591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solución permite profesionalizar el servicio, mejorar la coordinación interna, fortalecer el acompañamiento a los niños y habilitar el crecimiento escalable del PlayGroup.</a:t>
            </a:r>
            <a:endParaRPr sz="1300"/>
          </a:p>
          <a:p>
            <a:pPr indent="0" lvl="0" marL="0" marR="0" rtl="0" algn="l">
              <a:lnSpc>
                <a:spcPct val="142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2"/>
          <p:cNvSpPr/>
          <p:nvPr/>
        </p:nvSpPr>
        <p:spPr>
          <a:xfrm flipH="1">
            <a:off x="13581659" y="572725"/>
            <a:ext cx="1185181" cy="2658786"/>
          </a:xfrm>
          <a:custGeom>
            <a:rect b="b" l="l" r="r" t="t"/>
            <a:pathLst>
              <a:path extrusionOk="0" h="2658786" w="1185181">
                <a:moveTo>
                  <a:pt x="1185181" y="0"/>
                </a:moveTo>
                <a:lnTo>
                  <a:pt x="0" y="0"/>
                </a:lnTo>
                <a:lnTo>
                  <a:pt x="0" y="2658786"/>
                </a:lnTo>
                <a:lnTo>
                  <a:pt x="1185181" y="2658786"/>
                </a:lnTo>
                <a:lnTo>
                  <a:pt x="118518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25662" t="0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851975" y="-40156"/>
            <a:ext cx="2933677" cy="3369448"/>
          </a:xfrm>
          <a:custGeom>
            <a:rect b="b" l="l" r="r" t="t"/>
            <a:pathLst>
              <a:path extrusionOk="0" h="3369448" w="2933677">
                <a:moveTo>
                  <a:pt x="0" y="0"/>
                </a:moveTo>
                <a:lnTo>
                  <a:pt x="2933676" y="0"/>
                </a:lnTo>
                <a:lnTo>
                  <a:pt x="2933676" y="3369448"/>
                </a:lnTo>
                <a:lnTo>
                  <a:pt x="0" y="3369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150" l="0" r="0" t="-10527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4281793" y="743898"/>
            <a:ext cx="9724415" cy="1145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Solución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149325" y="3429000"/>
            <a:ext cx="17792400" cy="6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solución consiste en desarrollar una plataforma web integral para PlayGroup Piececitas que permita centralizar y automatizar todos los procesos claves del centro.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sistema aborda las necesidades críticas mediante: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6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1935" lvl="1" marL="60387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6"/>
              <a:buFont typeface="Arial"/>
              <a:buChar char="•"/>
            </a:pPr>
            <a:r>
              <a:rPr b="0" i="0" lang="en-US" sz="279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Gestión completa de terapeutas, incluyendo aprobación, perfiles, permisos y reemplazos.</a:t>
            </a:r>
            <a:endParaRPr/>
          </a:p>
          <a:p>
            <a:pPr indent="-301935" lvl="1" marL="60387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6"/>
              <a:buFont typeface="Arial"/>
              <a:buChar char="•"/>
            </a:pPr>
            <a:r>
              <a:rPr b="0" i="0" lang="en-US" sz="279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Agenda digital inteligente, con disponibilidad, programación de sesiones y reagendamientos sin depender de WhatsApp.</a:t>
            </a:r>
            <a:endParaRPr/>
          </a:p>
          <a:p>
            <a:pPr indent="-301935" lvl="1" marL="60387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6"/>
              <a:buFont typeface="Arial"/>
              <a:buChar char="•"/>
            </a:pPr>
            <a:r>
              <a:rPr b="0" i="0" lang="en-US" sz="279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Ficha clínica digital, unificada y editable según el rol del profesional.</a:t>
            </a:r>
            <a:endParaRPr/>
          </a:p>
          <a:p>
            <a:pPr indent="-301935" lvl="1" marL="60387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6"/>
              <a:buFont typeface="Arial"/>
              <a:buChar char="•"/>
            </a:pPr>
            <a:r>
              <a:rPr b="0" i="0" lang="en-US" sz="279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 automático de reemplazos, que selecciona a la colaboradora adecuada según disponibilidad, especialidad y carga laboral.</a:t>
            </a:r>
            <a:endParaRPr/>
          </a:p>
          <a:p>
            <a:pPr indent="-301935" lvl="1" marL="60387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6"/>
              <a:buFont typeface="Arial"/>
              <a:buChar char="•"/>
            </a:pPr>
            <a:r>
              <a:rPr b="0" i="0" lang="en-US" sz="279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Notificaciones automáticas para terapeutas y apoderados.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 flipH="1">
            <a:off x="11293603" y="204057"/>
            <a:ext cx="932360" cy="2091619"/>
          </a:xfrm>
          <a:custGeom>
            <a:rect b="b" l="l" r="r" t="t"/>
            <a:pathLst>
              <a:path extrusionOk="0" h="2091619" w="932360">
                <a:moveTo>
                  <a:pt x="932360" y="0"/>
                </a:moveTo>
                <a:lnTo>
                  <a:pt x="0" y="0"/>
                </a:lnTo>
                <a:lnTo>
                  <a:pt x="0" y="2091619"/>
                </a:lnTo>
                <a:lnTo>
                  <a:pt x="932360" y="2091619"/>
                </a:lnTo>
                <a:lnTo>
                  <a:pt x="93236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25662" t="0"/>
            </a:stretch>
          </a:blipFill>
          <a:ln>
            <a:noFill/>
          </a:ln>
        </p:spPr>
      </p:sp>
      <p:sp>
        <p:nvSpPr>
          <p:cNvPr id="105" name="Google Shape;105;p3"/>
          <p:cNvSpPr/>
          <p:nvPr/>
        </p:nvSpPr>
        <p:spPr>
          <a:xfrm>
            <a:off x="489450" y="0"/>
            <a:ext cx="2933677" cy="3369448"/>
          </a:xfrm>
          <a:custGeom>
            <a:rect b="b" l="l" r="r" t="t"/>
            <a:pathLst>
              <a:path extrusionOk="0" h="3369448" w="2933677">
                <a:moveTo>
                  <a:pt x="0" y="0"/>
                </a:moveTo>
                <a:lnTo>
                  <a:pt x="2933677" y="0"/>
                </a:lnTo>
                <a:lnTo>
                  <a:pt x="2933677" y="3369448"/>
                </a:lnTo>
                <a:lnTo>
                  <a:pt x="0" y="3369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150" l="0" r="0" t="-10527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/>
        </p:nvSpPr>
        <p:spPr>
          <a:xfrm>
            <a:off x="3314269" y="810281"/>
            <a:ext cx="11389891" cy="1510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9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Impacto y Resultado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314050" y="3513350"/>
            <a:ext cx="17659800" cy="7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4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La implementación de la página web de Playgroup Piececitas generó un impacto directo y positivo en la gestión del centro y en la experiencia de las familias. La plataforma centraliza la información del servicio, mejora la comunicación con los apoderados y ofrece una imagen profesional que fortalece la identidad del proyecto.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4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6578" lvl="1" marL="613157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40"/>
              <a:buFont typeface="Arial"/>
              <a:buChar char="•"/>
            </a:pPr>
            <a:r>
              <a:rPr b="0" i="0" lang="en-US" sz="284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Fortalece la imagen profesional del Playgroup y mejora la confianza de las familias.</a:t>
            </a:r>
            <a:endParaRPr/>
          </a:p>
          <a:p>
            <a:pPr indent="-306578" lvl="1" marL="613157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40"/>
              <a:buFont typeface="Arial"/>
              <a:buChar char="•"/>
            </a:pPr>
            <a:r>
              <a:rPr b="0" i="0" lang="en-US" sz="284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Centraliza la información del servicio de forma clara y accesible.</a:t>
            </a:r>
            <a:endParaRPr/>
          </a:p>
          <a:p>
            <a:pPr indent="-306578" lvl="1" marL="613157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40"/>
              <a:buFont typeface="Arial"/>
              <a:buChar char="•"/>
            </a:pPr>
            <a:r>
              <a:rPr b="0" i="0" lang="en-US" sz="284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Facilita la comunicación con apoderados y potenciales interesados.</a:t>
            </a:r>
            <a:endParaRPr/>
          </a:p>
          <a:p>
            <a:pPr indent="-306578" lvl="1" marL="613157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40"/>
              <a:buFont typeface="Arial"/>
              <a:buChar char="•"/>
            </a:pPr>
            <a:r>
              <a:rPr b="0" i="0" lang="en-US" sz="284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Aumenta el alcance del Playgroup y ayuda a captar nuevas familias.</a:t>
            </a:r>
            <a:endParaRPr/>
          </a:p>
          <a:p>
            <a:pPr indent="-306578" lvl="1" marL="613157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40"/>
              <a:buFont typeface="Arial"/>
              <a:buChar char="•"/>
            </a:pPr>
            <a:r>
              <a:rPr b="0" i="0" lang="en-US" sz="284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Ordena la propuesta del servicio, mostrando beneficios y metodología.</a:t>
            </a:r>
            <a:endParaRPr/>
          </a:p>
          <a:p>
            <a:pPr indent="-306578" lvl="1" marL="613157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40"/>
              <a:buFont typeface="Arial"/>
              <a:buChar char="•"/>
            </a:pPr>
            <a:r>
              <a:rPr b="0" i="0" lang="en-US" sz="284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Base tecnológica para integrar a futuro portal de apoderados.</a:t>
            </a:r>
            <a:endParaRPr/>
          </a:p>
          <a:p>
            <a:pPr indent="0" lvl="0" marL="0" marR="0" rtl="0" algn="ctr">
              <a:lnSpc>
                <a:spcPct val="1452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4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4"/>
          <p:cNvSpPr/>
          <p:nvPr/>
        </p:nvSpPr>
        <p:spPr>
          <a:xfrm flipH="1">
            <a:off x="14528330" y="519853"/>
            <a:ext cx="932360" cy="2091619"/>
          </a:xfrm>
          <a:custGeom>
            <a:rect b="b" l="l" r="r" t="t"/>
            <a:pathLst>
              <a:path extrusionOk="0" h="2091619" w="932360">
                <a:moveTo>
                  <a:pt x="932360" y="0"/>
                </a:moveTo>
                <a:lnTo>
                  <a:pt x="0" y="0"/>
                </a:lnTo>
                <a:lnTo>
                  <a:pt x="0" y="2091618"/>
                </a:lnTo>
                <a:lnTo>
                  <a:pt x="932360" y="2091618"/>
                </a:lnTo>
                <a:lnTo>
                  <a:pt x="93236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25662" t="0"/>
            </a:stretch>
          </a:blipFill>
          <a:ln>
            <a:noFill/>
          </a:ln>
        </p:spPr>
      </p:sp>
      <p:sp>
        <p:nvSpPr>
          <p:cNvPr id="113" name="Google Shape;113;p4"/>
          <p:cNvSpPr/>
          <p:nvPr/>
        </p:nvSpPr>
        <p:spPr>
          <a:xfrm>
            <a:off x="314042" y="0"/>
            <a:ext cx="2933677" cy="3369448"/>
          </a:xfrm>
          <a:custGeom>
            <a:rect b="b" l="l" r="r" t="t"/>
            <a:pathLst>
              <a:path extrusionOk="0" h="3369448" w="2933677">
                <a:moveTo>
                  <a:pt x="0" y="0"/>
                </a:moveTo>
                <a:lnTo>
                  <a:pt x="2933676" y="0"/>
                </a:lnTo>
                <a:lnTo>
                  <a:pt x="2933676" y="3369448"/>
                </a:lnTo>
                <a:lnTo>
                  <a:pt x="0" y="3369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150" l="0" r="0" t="-10527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2265155" y="1028700"/>
            <a:ext cx="13757690" cy="8229600"/>
          </a:xfrm>
          <a:custGeom>
            <a:rect b="b" l="l" r="r" t="t"/>
            <a:pathLst>
              <a:path extrusionOk="0" h="8229600" w="13757690">
                <a:moveTo>
                  <a:pt x="0" y="0"/>
                </a:moveTo>
                <a:lnTo>
                  <a:pt x="13757690" y="0"/>
                </a:lnTo>
                <a:lnTo>
                  <a:pt x="137576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3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5"/>
          <p:cNvSpPr txBox="1"/>
          <p:nvPr/>
        </p:nvSpPr>
        <p:spPr>
          <a:xfrm>
            <a:off x="3577096" y="2969068"/>
            <a:ext cx="11133808" cy="4118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81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Muchas</a:t>
            </a:r>
            <a:endParaRPr/>
          </a:p>
          <a:p>
            <a:pPr indent="0" lvl="0" marL="0" marR="0" rtl="0" algn="ctr">
              <a:lnSpc>
                <a:spcPct val="114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81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gracias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273745" y="-150850"/>
            <a:ext cx="4068446" cy="6106485"/>
          </a:xfrm>
          <a:custGeom>
            <a:rect b="b" l="l" r="r" t="t"/>
            <a:pathLst>
              <a:path extrusionOk="0" h="6106485" w="4068446">
                <a:moveTo>
                  <a:pt x="0" y="0"/>
                </a:moveTo>
                <a:lnTo>
                  <a:pt x="4068446" y="0"/>
                </a:lnTo>
                <a:lnTo>
                  <a:pt x="4068446" y="6106486"/>
                </a:lnTo>
                <a:lnTo>
                  <a:pt x="0" y="61064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